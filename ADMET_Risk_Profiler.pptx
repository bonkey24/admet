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86934" y="4023360"/>
            <a:ext cx="2743200" cy="2743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0" y="731520"/>
            <a:ext cx="3931920" cy="4114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7498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alibri"/>
              </a:defRPr>
            </a:pPr>
            <a:r>
              <a:t>PHARMACOLOGY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  <a:latin typeface="Calibri"/>
              </a:defRPr>
            </a:pPr>
            <a:r>
              <a:t>ADMET Risk Profiler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Advanced Drug-Likeness Evaluation Based on Lipinski's Rule of Five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200400"/>
            <a:ext cx="301752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3474720"/>
            <a:ext cx="6675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rPr dirty="0"/>
              <a:t>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727" y="4114800"/>
            <a:ext cx="2560320" cy="10058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0887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887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8127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Ayan Mondal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8367" y="4114800"/>
            <a:ext cx="2560320" cy="10058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35527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5527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2767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Debopriya Saha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14800"/>
            <a:ext cx="2560320" cy="10058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70167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7407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Debraj 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7647" y="4114800"/>
            <a:ext cx="2560320" cy="100584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04807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4807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2047" y="43434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Krish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94360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rPr lang="en-IN" sz="1600" b="1" dirty="0">
                <a:solidFill>
                  <a:schemeClr val="bg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B. </a:t>
            </a:r>
            <a:r>
              <a:rPr sz="1600" b="1" dirty="0">
                <a:solidFill>
                  <a:schemeClr val="bg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Pharm</a:t>
            </a:r>
            <a:r>
              <a:rPr lang="en-IN" sz="1600" b="1" dirty="0">
                <a:solidFill>
                  <a:schemeClr val="bg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sz="1600" b="1" dirty="0">
                <a:solidFill>
                  <a:schemeClr val="bg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Project  |  2026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F098EC8-0024-4649-AC3A-7C8BE5F7844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47" y="1968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What is ADMET?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five pillars of pharmacokinetic drug evaluation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B17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57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Absorption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 absorption, water solubility, bioavailability score, MW, and PSA determine oral uptake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594360" cy="5943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B17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71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LogP, PSA, and BBB permeability govern tissue and CNS distribution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B17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86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Metabolism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Rotatable bonds, bioavailability score &amp; water solubility predict metabolic stability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54880"/>
            <a:ext cx="594360" cy="59436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B17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Excretion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How the kidneys and other organs clear the drug from the body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669280"/>
            <a:ext cx="594360" cy="594360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60B17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15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Toxicity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80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Structural flags for potential toxic or adverse effects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35C145-6C3A-4CA3-B29A-ED5599C9E5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650" y="0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Lipinski's Rule of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gold standard for predicting oral bioavailability of drug candidates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8686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Molecular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Sum of atomic masses of all atoms in the molecule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286000"/>
            <a:ext cx="1828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2331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≤ 500 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79"/>
            <a:ext cx="10332720" cy="8686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LogP (Lipophilicity)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Octanol-water partition coefficient; ideal range 1–3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337559"/>
            <a:ext cx="1828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33832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≤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332720" cy="8686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H-Bond Donors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Count of –OH and –NH groups in the molecule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389120"/>
            <a:ext cx="1828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4434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≤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57800"/>
            <a:ext cx="10332720" cy="8686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F5F9"/>
                </a:solidFill>
                <a:latin typeface="Calibri"/>
              </a:defRPr>
            </a:pPr>
            <a:r>
              <a:t>H-Bond Acceptors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15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Count of nitrogen and oxygen atoms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5440680"/>
            <a:ext cx="182880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≤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B547"/>
                </a:solidFill>
                <a:latin typeface="Calibri"/>
              </a:defRPr>
            </a:pPr>
            <a:r>
              <a:t>⚠ Two or more violations suggest poor oral bioavailability — compound is high risk.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61315D-F731-44DA-971E-3ABD816D81A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650" y="-317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Full-stack web application with serverless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332720" cy="91440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76200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21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HTML5, CSS3, JavaScript, Chart.js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Modern dark UI with glassmorphism, radar charts, and micro-animations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91440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762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186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Python, Flask, Flask-CORS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RESTful API for ADMET evaluation with scoring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10332720" cy="91440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76200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315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Vercel (Serverless)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Auto-detects local vs production environment for API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10332720" cy="91440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5303520"/>
            <a:ext cx="76200" cy="9144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A0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132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1F5F9"/>
                </a:solidFill>
                <a:latin typeface="Calibri"/>
              </a:defRPr>
            </a:pPr>
            <a:r>
              <a:t>Lipinski + Veber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806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Multi-parameter scoring across all five ADMET dimensions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F59ED9-8778-4B8D-8560-A60963C1453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47" y="1968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User workflow from input to analysis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10312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99032" y="2788920"/>
            <a:ext cx="381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Input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Enter MW, LogP, H-bond donors/acceptors, rotatable bonds, PSA,</a:t>
            </a:r>
            <a:br/>
            <a:r>
              <a:t>GI absorption, water solubility, bioavailability score &amp; BBB permeability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0040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9032" y="3886200"/>
            <a:ext cx="381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Run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Flask backend evaluates compound against Lipinski's Rule</a:t>
            </a:r>
            <a:br/>
            <a:r>
              <a:t>of Five and extended ADMET criteria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2976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99032" y="4983480"/>
            <a:ext cx="381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View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17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Dashboard displays Pass/Warning/Fail for each ADMET</a:t>
            </a:r>
            <a:br/>
            <a:r>
              <a:t>category with scores, radar chart, and actionable tips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39496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F5F9"/>
                </a:solidFill>
                <a:latin typeface="Calibri"/>
              </a:defRPr>
            </a:pPr>
            <a:r>
              <a:t>Track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15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Compare multiple compounds side-by-side in the</a:t>
            </a:r>
            <a:br/>
            <a:r>
              <a:t>analysis history panel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532D779-89EA-48F6-A609-EA3EA252E9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47" y="1968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Scoring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Each ADMET dimension is scored 0–100 and classified into three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6012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76200" cy="96012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2128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A0"/>
                </a:solidFill>
                <a:latin typeface="Calibri"/>
              </a:defRPr>
            </a:pPr>
            <a:r>
              <a:t>✅  PASS  (80–100)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Compound meets or exceeds safety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91839"/>
            <a:ext cx="9418320" cy="96012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0" y="3291839"/>
            <a:ext cx="76200" cy="9601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0" y="3401567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547"/>
                </a:solidFill>
                <a:latin typeface="Calibri"/>
              </a:defRPr>
            </a:pPr>
            <a:r>
              <a:t>⚠️  WARNING  (55–79)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947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Borderline — compound may have pharmacokinetic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480560"/>
            <a:ext cx="9418320" cy="96012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76200" cy="9601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4590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D"/>
                </a:solidFill>
                <a:latin typeface="Calibri"/>
              </a:defRPr>
            </a:pPr>
            <a:r>
              <a:t>❌  FAIL  (0–54)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83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High risk — compound violates critical safety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Overall Drug-Likeness Score = Average of all 5 ADMET dimension scores</a:t>
            </a:r>
            <a:br/>
            <a:r>
              <a:t>Lipinski Violations counted separately for quick risk flagging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E44214-D785-475F-9C3C-95F3B614EA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47" y="1968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Input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Ten molecular descriptors power the ADMET analysis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01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Molecular Weight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862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LogP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278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97180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H-Bond Donors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87951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931919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59" y="395935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782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H-Bond Acceptors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4807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89204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59" y="4919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742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Rotatable Bonds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1081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585216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59" y="5879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82880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0" y="1901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Polar Surface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26771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Å²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79" y="201168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79" y="2039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≤ 140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78892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2862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GI Absorption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2278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79" y="297180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79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749039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66560" y="38221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Water Solubility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187951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79" y="3931919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79" y="3959351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70916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4782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Bioavailability 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14807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0–1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79" y="489204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41279" y="49194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≥ 0.55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2240" y="5669280"/>
            <a:ext cx="5303520" cy="804672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66560" y="5742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Calibri"/>
              </a:defRPr>
            </a:pPr>
            <a:r>
              <a:t>BBB Permeability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61081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Unit: 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79" y="5852160"/>
            <a:ext cx="128016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41279" y="58795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Calibri"/>
              </a:defRPr>
            </a:pPr>
            <a:r>
              <a:t>Yes/No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992BF17-A78F-4C79-BB16-9A334EF500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47" y="19685"/>
            <a:ext cx="3562350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3200400" cy="32004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Real-time Visual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Live range bars and animated score indicators as you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Radar Chart Visualization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Interactive Chart.js radar chart for ADMET profile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Detailed Risk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Expandable cards with explanations, tips, and rule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Analysis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Track and compare up to 6 compound evaluations per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0040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383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Responsive Dark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Glassmorphism design with animated orbs and micro-animations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5303520" cy="128016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Serverless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Vercel-ready with auto-detecting local/production API routing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BCF6CE-9C6D-4B2E-A55A-A6BDEDB7D65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725" y="19685"/>
            <a:ext cx="2943072" cy="803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635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5A0"/>
                </a:solidFill>
                <a:latin typeface="Calibri"/>
              </a:defRPr>
            </a:pPr>
            <a:r>
              <a:t>✅ Aspirin — Perfect Drug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Molecular Weight:  180 Da</a:t>
            </a:r>
            <a:br/>
            <a:r>
              <a:t>LogP:  1.2</a:t>
            </a:r>
            <a:br/>
            <a:r>
              <a:t>H-Bond Donors:  1</a:t>
            </a:r>
            <a:br/>
            <a:r>
              <a:t>H-Bond Acceptors:  4</a:t>
            </a:r>
            <a:br/>
            <a:r>
              <a:t>Rotatable Bonds:  3</a:t>
            </a:r>
            <a:br/>
            <a:r>
              <a:t>Polar Surface Area:  63.6 Å²</a:t>
            </a:r>
            <a:br/>
            <a:r>
              <a:t>GI Absorption:  High</a:t>
            </a:r>
            <a:br/>
            <a:r>
              <a:t>Water Solubility:  High</a:t>
            </a:r>
            <a:br/>
            <a:r>
              <a:t>Bioavailability Score:  0.85</a:t>
            </a:r>
            <a:br/>
            <a:r>
              <a:t>BBB Permeability: 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Expected: All PASS  |  Score: ~100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1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03520" cy="635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D"/>
                </a:solidFill>
                <a:latin typeface="Calibri"/>
              </a:defRPr>
            </a:pPr>
            <a:r>
              <a:t>❌ BadDrug-X — High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Molecular Weight:  750 Da</a:t>
            </a:r>
            <a:br/>
            <a:r>
              <a:t>LogP:  6.5</a:t>
            </a:r>
            <a:br/>
            <a:r>
              <a:t>H-Bond Donors:  8</a:t>
            </a:r>
            <a:br/>
            <a:r>
              <a:t>H-Bond Acceptors:  14</a:t>
            </a:r>
            <a:br/>
            <a:r>
              <a:t>Rotatable Bonds:  12</a:t>
            </a:r>
            <a:br/>
            <a:r>
              <a:t>Polar Surface Area:  180 Å²</a:t>
            </a:r>
            <a:br/>
            <a:r>
              <a:t>GI Absorption:  Low</a:t>
            </a:r>
            <a:br/>
            <a:r>
              <a:t>Water Solubility:  Poor</a:t>
            </a:r>
            <a:br/>
            <a:r>
              <a:t>Bioavailability Score:  0.20</a:t>
            </a:r>
            <a:br/>
            <a:r>
              <a:t>BBB Permeability: 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D6D"/>
                </a:solidFill>
                <a:latin typeface="Calibri"/>
              </a:defRPr>
            </a:pPr>
            <a:r>
              <a:t>Expected: Multiple FAIL  |  Score: ~15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934649-CF9D-4120-8A46-87783FD83B4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99" y="635"/>
            <a:ext cx="2800197" cy="856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0" y="1962150"/>
            <a:ext cx="4572000" cy="45720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914400"/>
            <a:ext cx="3657600" cy="3657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24400" y="4083685"/>
            <a:ext cx="2743200" cy="2743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1F5F9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  <a:latin typeface="Calibri"/>
              </a:defRPr>
            </a:pPr>
            <a:r>
              <a:rPr dirty="0"/>
              <a:t>ADMET Risk Profiler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10312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44040" y="40894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1F5F9"/>
                </a:solidFill>
                <a:latin typeface="Calibri"/>
              </a:defRPr>
            </a:pPr>
            <a:r>
              <a:t>Ayan Mondal  •  Debopriya Saha  •  Debraj De  •  Krish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4DF33-0F39-4FC9-B74A-10AB4F1B56C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49" y="19685"/>
            <a:ext cx="2933547" cy="894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728</Words>
  <Application>Microsoft Office PowerPoint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Ayan Mondal</cp:lastModifiedBy>
  <cp:revision>3</cp:revision>
  <dcterms:created xsi:type="dcterms:W3CDTF">2013-01-27T09:14:16Z</dcterms:created>
  <dcterms:modified xsi:type="dcterms:W3CDTF">2026-05-09T06:44:19Z</dcterms:modified>
  <cp:category/>
</cp:coreProperties>
</file>